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4553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🛡️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1828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2C55E"/>
                </a:solidFill>
              </a:rPr>
              <a:t>ELF MALWARE DETECTION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2560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Static Analysis using Machine Learning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2926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A Comparative Study of Three Feature Extraction Approaches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114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Ariel Saadon | Dr. Ran Dubin | January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C55E"/>
                </a:solidFill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Presentation Overview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1. Project Motivation &amp; Goals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2. Understanding ELF Files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3. The Malware Threat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4. Dataset Construction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5. ELF-Miner Approach (Paper 1)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6. Guesmi et al. Approach (Paper 2)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11887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C55E"/>
                </a:solidFill>
              </a:rPr>
              <a:t>7. Our Hybrid Approach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8. Feature Engineering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103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9. Model Training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5603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10. Overfitting Validation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30175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11. Results &amp; Analysis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34747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</a:rPr>
              <a:t>12. Summary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C55E"/>
                </a:solidFill>
              </a:rPr>
              <a:t>Project Motivation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Why ELF Malware Detection Matters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1645920"/>
          </a:xfrm>
          <a:prstGeom prst="round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</a:rPr>
              <a:t>🌐 Linux Dominance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96% of top web servers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90% of cloud infrastructure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70% of IoT devices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Android uses Linux kernel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114800" cy="1645920"/>
          </a:xfrm>
          <a:prstGeom prst="round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475488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</a:rPr>
              <a:t>⚠️ Growing Threat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Mirai botnet: 600K+ devices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Linux malware up 35% in 2023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IoT devices are prime targets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Ransomware targeting servers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017520"/>
            <a:ext cx="8595360" cy="12801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274320" y="31089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🎯 Project Goal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</a:rPr>
              <a:t>Develop a lightweight, static-analysis system for detecting malicious ELF files using ML.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</a:rPr>
              <a:t>Compare multiple approaches and propose improvements.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C55E"/>
                </a:solidFill>
              </a:rPr>
              <a:t>Research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What We Set Out to Achieve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</a:rPr>
              <a:t>Implement &amp; Compare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508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Replicate two established approaches from literature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</a:rPr>
              <a:t>Propose Improvement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Develop hybrid approach with novel security-aware 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</a:rPr>
              <a:t>Evaluation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154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Validate with cross-validation and overfitting analysis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45720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Deploy System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Build complete detection system with Docker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C55E"/>
                </a:solidFill>
              </a:rPr>
              <a:t>What is ELF?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Executable and Linkable Format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</a:rPr>
              <a:t>ELF is the standard binary format for executables, libraries, and object files on Linux/Unix.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645920"/>
            <a:ext cx="2743200" cy="2560320"/>
          </a:xfrm>
          <a:prstGeom prst="round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</a:rPr>
              <a:t>📦 Used For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Executable programs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  (ls, grep, python3)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Shared libraries (.so)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Object files (.o)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Core dumps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645920"/>
            <a:ext cx="2743200" cy="2560320"/>
          </a:xfrm>
          <a:prstGeom prst="round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3200400" y="1737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55F7"/>
                </a:solidFill>
              </a:rPr>
              <a:t>🖥️ Platforms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21031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Linux (all distros)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Android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FreeBSD / OpenBSD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PlayStation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IoT devices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645920"/>
            <a:ext cx="2743200" cy="2560320"/>
          </a:xfrm>
          <a:prstGeom prst="round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6126480" y="1737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</a:rPr>
              <a:t>⚙️ Properties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21031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Architecture agnostic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  (x86, ARM, MIPS)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Self-describing format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Dynamic linking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Extensible design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C55E"/>
                </a:solidFill>
              </a:rPr>
              <a:t>ELF File Structure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Internal Organization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657600" cy="3200400"/>
          </a:xfrm>
          <a:prstGeom prst="round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108960" cy="4572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ELF Header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310896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</a:rPr>
              <a:t>Program Headers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377440"/>
            <a:ext cx="3108960" cy="13716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Sections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.text .data .rodata .bss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3108960" cy="45720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731520" y="3794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</a:rPr>
              <a:t>Section Headers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1188720"/>
            <a:ext cx="4114800" cy="731520"/>
          </a:xfrm>
          <a:prstGeom prst="round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466344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ELF Header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1554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Magic bytes, architecture, entry point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2011680"/>
            <a:ext cx="4114800" cy="731520"/>
          </a:xfrm>
          <a:prstGeom prst="round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4663440" y="2057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Program Headers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2377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Segments for runtime (LOAD, DYNAMIC)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2834640"/>
            <a:ext cx="4114800" cy="731520"/>
          </a:xfrm>
          <a:prstGeom prst="round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466344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Sections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3200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.text=code, .data=variables, .bss=uninitialized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3657600"/>
            <a:ext cx="4114800" cy="731520"/>
          </a:xfrm>
          <a:prstGeom prst="round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4" name="Text 22"/>
          <p:cNvSpPr/>
          <p:nvPr/>
        </p:nvSpPr>
        <p:spPr>
          <a:xfrm>
            <a:off x="466344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</a:rPr>
              <a:t>Section Headers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4023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Metadata: names, sizes, permissions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C55E"/>
                </a:solidFill>
              </a:rPr>
              <a:t>The Malware Threat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Why ELF Malware is Dangerous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1828800"/>
          </a:xfrm>
          <a:prstGeom prst="round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🦠 Types of ELF Malware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Botnets (Mirai, Gafgyt)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Ransomware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Cryptominers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Rootkits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Backdoors &amp; RATs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114800" cy="1828800"/>
          </a:xfrm>
          <a:prstGeom prst="round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475488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🎯 Target Environments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IoT devices (cameras, routers)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Cloud servers &amp; containers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Embedded systems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Network infrastructure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200400"/>
            <a:ext cx="8595360" cy="11887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274320" y="32918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⚠️ IoT &amp; ELF: A Perfect Storm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IoT devices run Linux/ELF with: weak passwords, no updates, limited monitoring, always online.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C55E"/>
                </a:solidFill>
              </a:rPr>
              <a:t>Detection Challenges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Why This Problem is Hard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65960"/>
            <a:ext cx="8595360" cy="777240"/>
          </a:xfrm>
          <a:prstGeom prst="round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</a:rPr>
              <a:t>📱 Resource Constraints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IoT has limited CPU/RAM. Heavy analysis is </a:t>
            </a:r>
            <a:r>
              <a:rPr lang="en-US" sz="1100" dirty="0" err="1">
                <a:solidFill>
                  <a:srgbClr val="94A3B8"/>
                </a:solidFill>
              </a:rPr>
              <a:t>imposible</a:t>
            </a:r>
            <a:r>
              <a:rPr lang="en-US" sz="1100" dirty="0">
                <a:solidFill>
                  <a:srgbClr val="94A3B8"/>
                </a:solidFill>
              </a:rPr>
              <a:t>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834640"/>
            <a:ext cx="8595360" cy="777240"/>
          </a:xfrm>
          <a:prstGeom prst="round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🎭 Evasion Techniques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Packing, encryption, obfuscation defeat simple detection.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703320"/>
            <a:ext cx="8595360" cy="777240"/>
          </a:xfrm>
          <a:prstGeom prst="round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⚡ Real-time Requirements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Detection must be fast for practical deployment.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C55E"/>
                </a:solidFill>
              </a:rPr>
              <a:t>Our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Static Analysis + Machine Learning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1280160"/>
          </a:xfrm>
          <a:prstGeom prst="round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</a:rPr>
              <a:t>✅ Static Analysis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Analyze structure without execution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→ Safe, Fast, Scalable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114800" cy="1280160"/>
          </a:xfrm>
          <a:prstGeom prst="round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475488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❌ Dynamic Analysis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Execute in sandbox, monitor behavior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→ Risky, Slow, Resource-heavy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</a:rPr>
              <a:t>We implement 3 pipelines: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2743200" cy="11887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27432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</a:rPr>
              <a:t>Pipeline 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Structural (ELF-Miner)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3017520"/>
            <a:ext cx="2743200" cy="11887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320040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55F7"/>
                </a:solidFill>
              </a:rPr>
              <a:t>Pipeline 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0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Statistical (Guesmi)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3017520"/>
            <a:ext cx="2743200" cy="11887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612648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</a:rPr>
              <a:t>Pipeline C 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Hybrid (Ours)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C55E"/>
                </a:solidFill>
              </a:rPr>
              <a:t>Dataset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Data Collection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1645920"/>
          </a:xfrm>
          <a:prstGeom prst="round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✅ Benign (~600)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Source: Linux system binaries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/usr/bin, /bin, /sbin, /usr/lib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114800" cy="1645920"/>
          </a:xfrm>
          <a:prstGeom prst="round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475488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</a:rPr>
              <a:t>🦠 Malware (~594)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Source: GitHub repositories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theZoo, Linux-Malware-Samples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0" y="3017520"/>
            <a:ext cx="4572000" cy="1371600"/>
          </a:xfrm>
          <a:prstGeom prst="round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228600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</a:rPr>
              <a:t>Total: ~1,200 Samples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28600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80% Train (912) | 20% Test (229)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C55E"/>
                </a:solidFill>
              </a:rPr>
              <a:t>Paper 1: ELF-Miner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Structural Feature Approach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11580"/>
            <a:ext cx="8595360" cy="434340"/>
          </a:xfrm>
          <a:prstGeom prst="round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Shahzad et al. - "ELF-Miner: Using Structural Knowledge and Data Mining"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4114800" cy="2286000"/>
          </a:xfrm>
          <a:prstGeom prst="round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</a:rPr>
              <a:t>📋 Approach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Extract structural features from: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ELF Header (type, machine, flags)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Section Headers (names, sizes)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Program Headers (segments)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Symbol Tables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Dynamic Linking Info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4114800" cy="2286000"/>
          </a:xfrm>
          <a:prstGeom prst="round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4754880" y="1920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</a:rPr>
              <a:t>📊 Results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28600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Features: 383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Dataset: 1,443 samples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Models: RIPPER, J48, PART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Accuracy: &gt;99%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False Positives: &lt;0.1%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</a:rPr>
              <a:t>Our Pipeline A: 53 selected features based on this approach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C55E"/>
                </a:solidFill>
              </a:rPr>
              <a:t>Paper 2: Guesmi et al.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Statistical Feature Approach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11580"/>
            <a:ext cx="8595360" cy="434340"/>
          </a:xfrm>
          <a:prstGeom prst="round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"Lightweight Header-Based Analysis for IoT Malware Detection"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4114800" cy="2286000"/>
          </a:xfrm>
          <a:prstGeom prst="round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55F7"/>
                </a:solidFill>
              </a:rPr>
              <a:t>📋 Approach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Treat file as raw byte stream: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Entropy analysis (randomness)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Windowed/Block entropy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Byte histogram statistics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N-gram frequencies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4114800" cy="2286000"/>
          </a:xfrm>
          <a:prstGeom prst="round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4754880" y="1920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</a:rPr>
              <a:t>📊 Results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28600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Features: 44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Dataset: 11,444 samples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Models: RF, XGBoost, AdaBoost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Accuracy: 99.98%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F1-Score: 0.9999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55F7"/>
                </a:solidFill>
              </a:rPr>
              <a:t>Our Pipeline B: 44 features based on this approach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C55E"/>
                </a:solidFill>
              </a:rPr>
              <a:t>Our Hybrid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Pipeline C - Best of Both Worlds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8595360" cy="502920"/>
          </a:xfrm>
          <a:prstGeom prst="round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💡 Combine structural + statistical features, add novel security indicators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274320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</a:rPr>
              <a:t>From Pipeline 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Segments, sections,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symbols, libraries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920240"/>
            <a:ext cx="274320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320040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55F7"/>
                </a:solidFill>
              </a:rPr>
              <a:t>From Pipeline 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24688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Header entropy,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byte distribution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920240"/>
            <a:ext cx="2743200" cy="2103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612648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</a:rPr>
              <a:t>Novel Features 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4688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C55E"/>
                </a:solidFill>
              </a:rPr>
              <a:t>Security (NX,PIE)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C55E"/>
                </a:solidFill>
              </a:rPr>
              <a:t>Entropy anomalies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</a:rPr>
              <a:t>Result: 39 features (fewer than A or B!) with novel security detection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C55E"/>
                </a:solidFill>
              </a:rPr>
              <a:t>Novel Security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What Makes Pipeline C Special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502920"/>
          </a:xfrm>
          <a:prstGeom prst="round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🔒 has_nx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51760" y="11430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No-Execute Stack - Prevents code execution on stack. Malware often disables.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8595360" cy="548640"/>
          </a:xfrm>
          <a:prstGeom prst="round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🔒 has_pie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17830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Position Independent - Enables ASLR. Old malware uses fixed addresses.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377440"/>
            <a:ext cx="8595360" cy="548640"/>
          </a:xfrm>
          <a:prstGeom prst="round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🔒 has_relro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242316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Read-Only Relocations - Protects GOT. Old/malicious binaries lack this.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8595360" cy="548640"/>
          </a:xfrm>
          <a:prstGeom prst="round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457200" y="3063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📊 entropy_std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30632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Section entropy variance - Packed malware has high, uniform entropy.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657600"/>
            <a:ext cx="8595360" cy="548640"/>
          </a:xfrm>
          <a:prstGeom prst="round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457200" y="3703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⚠️ suspicious_imports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51760" y="37033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Dangerous functions: execve, socket, ptrace, mmap, fork...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💡 Modern benign binaries have all protections. Older malware lacks them!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C55E"/>
                </a:solidFill>
              </a:rPr>
              <a:t>Machine Learning Models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Random Forest vs XGBoost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2651760"/>
          </a:xfrm>
          <a:prstGeom prst="round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</a:rPr>
              <a:t>🌲 Random Forest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645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Bagging Ensemble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300 trees trained in parallel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Each sees random data subset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Final = majority vote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✅ Resistant to overfitting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✅ Provides feature importance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14800" cy="2651760"/>
          </a:xfrm>
          <a:prstGeom prst="round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4754880" y="1188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</a:rPr>
              <a:t>🚀 XGBoost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1645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Boosting Ensemble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300 trees trained sequentially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Each corrects previous errors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Final = weighted sum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✅ Often higher accuracy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✅ Fast training/inference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0" y="4023360"/>
            <a:ext cx="3657600" cy="548640"/>
          </a:xfrm>
          <a:prstGeom prst="round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2743200" y="4023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Total: 6 Models (3 pipelines × 2 algorithms)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C55E"/>
                </a:solidFill>
              </a:rPr>
              <a:t>Training Process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Step by Step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E8F0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</a:rPr>
              <a:t>Load Dataset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1,141 ELF files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457200" cy="45720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4572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E8F0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1783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</a:rPr>
              <a:t>Extract Features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103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Run 3 pipelines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3317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E8F0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Split 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788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80/20 train/test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0175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E8F0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154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Train Models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474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6 models total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703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6" name="Text 24"/>
          <p:cNvSpPr/>
          <p:nvPr/>
        </p:nvSpPr>
        <p:spPr>
          <a:xfrm>
            <a:off x="4572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E8F0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Evaluate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Accuracy, F1, etc.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C55E"/>
                </a:solidFill>
              </a:rPr>
              <a:t>Overfitting Validation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Is 100% Accuracy Real?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1737360"/>
          </a:xfrm>
          <a:prstGeom prst="round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❓ The Question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When accuracy = 100%, we must ask: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Is model learning patterns?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Or memorizing training data?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• Will it work on new data?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114800" cy="1737360"/>
          </a:xfrm>
          <a:prstGeom prst="round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475488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</a:rPr>
              <a:t>🔍 Our Validation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Two methods: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1. 10-Fold Cross-Validation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2. Learning Curves Analysis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108960"/>
            <a:ext cx="8595360" cy="1188720"/>
          </a:xfrm>
          <a:prstGeom prst="round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274320" y="3200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</a:rPr>
              <a:t>Cross-Validation Results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Pipeline A: Train 100% → CV 99.5% (gap 0.5%) 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Pipeline B: Train 100% → CV 98.0% (gap 2%) ⚡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Pipeline C: Train 100% → CV 99.0% (gap 1%) 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</a:rPr>
              <a:t>Small gap + curves converge = NO significant overfitting!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C55E"/>
                </a:solidFill>
              </a:rPr>
              <a:t>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Classification Performance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122682"/>
              </p:ext>
            </p:extLst>
          </p:nvPr>
        </p:nvGraphicFramePr>
        <p:xfrm>
          <a:off x="274320" y="1234440"/>
          <a:ext cx="8595360" cy="2423155"/>
        </p:xfrm>
        <a:graphic>
          <a:graphicData uri="http://schemas.openxmlformats.org/drawingml/2006/table">
            <a:tbl>
              <a:tblPr/>
              <a:tblGrid>
                <a:gridCol w="143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61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Pipeline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F1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A (Structural)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RF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100.00%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1.0000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A (Structural)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XGB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99.56%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99.07%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0.9953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B (Statistical)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RF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98.25%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99.06%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97.22%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0.9813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B (Statistical)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XGB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98.25%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98.15%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98.15%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0.9815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C (Hybrid) ⭐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RF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100.00%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1.0000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C (Hybrid) ⭐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XGB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99.56%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99.07%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0.9953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Test Set: 229 samples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286000" y="4023360"/>
            <a:ext cx="4572000" cy="548640"/>
          </a:xfrm>
          <a:prstGeom prst="round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Text 5"/>
          <p:cNvSpPr/>
          <p:nvPr/>
        </p:nvSpPr>
        <p:spPr>
          <a:xfrm>
            <a:off x="2286000" y="40233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Best: Pipeline C + RF = 100%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C55E"/>
                </a:solidFill>
              </a:rPr>
              <a:t>Feature Importance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Top 10 Features (Pipeline C)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2E8F0"/>
                </a:solidFill>
              </a:rPr>
              <a:t>a_num_segments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926080" y="1097280"/>
            <a:ext cx="4572000" cy="20116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7772400" y="1051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16.72%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2E8F0"/>
                </a:solidFill>
              </a:rPr>
              <a:t>a_sections_executable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0" y="1417320"/>
            <a:ext cx="3437203" cy="20116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7772400" y="1371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12.57%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1691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2E8F0"/>
                </a:solidFill>
              </a:rPr>
              <a:t>a_num_libraries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1737360"/>
            <a:ext cx="2195763" cy="20116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7772400" y="1691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8.03%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2011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2E8F0"/>
                </a:solidFill>
              </a:rPr>
              <a:t>a_num_sections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2057400"/>
            <a:ext cx="2007086" cy="20116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7772400" y="2011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7.34%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2331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2E8F0"/>
                </a:solidFill>
              </a:rPr>
              <a:t>a_num_undefined_sym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0" y="2377440"/>
            <a:ext cx="1974273" cy="20116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7772400" y="2331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7.22%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2651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C55E"/>
                </a:solidFill>
              </a:rPr>
              <a:t>c_section_entropy_std 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26080" y="2697480"/>
            <a:ext cx="1802002" cy="20116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Text 20"/>
          <p:cNvSpPr/>
          <p:nvPr/>
        </p:nvSpPr>
        <p:spPr>
          <a:xfrm>
            <a:off x="7772400" y="2651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6.59%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2971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2E8F0"/>
                </a:solidFill>
              </a:rPr>
              <a:t>b_header_entropy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926080" y="3017520"/>
            <a:ext cx="1744579" cy="201168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5" name="Text 23"/>
          <p:cNvSpPr/>
          <p:nvPr/>
        </p:nvSpPr>
        <p:spPr>
          <a:xfrm>
            <a:off x="7772400" y="2971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6.38%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3291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C55E"/>
                </a:solidFill>
              </a:rPr>
              <a:t>c_has_pie ⭐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26080" y="3337560"/>
            <a:ext cx="1318005" cy="20116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8" name="Text 26"/>
          <p:cNvSpPr/>
          <p:nvPr/>
        </p:nvSpPr>
        <p:spPr>
          <a:xfrm>
            <a:off x="7772400" y="3291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4.82%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3611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C55E"/>
                </a:solidFill>
              </a:rPr>
              <a:t>c_has_relro ⭐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926080" y="3657600"/>
            <a:ext cx="1009012" cy="20116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1" name="Text 29"/>
          <p:cNvSpPr/>
          <p:nvPr/>
        </p:nvSpPr>
        <p:spPr>
          <a:xfrm>
            <a:off x="7772400" y="3611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3.69%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" y="3931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2E8F0"/>
                </a:solidFill>
              </a:rPr>
              <a:t>a_sections_writable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926080" y="3977640"/>
            <a:ext cx="659002" cy="20116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4" name="Text 32"/>
          <p:cNvSpPr/>
          <p:nvPr/>
        </p:nvSpPr>
        <p:spPr>
          <a:xfrm>
            <a:off x="777240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2.41%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4320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⭐ = Our novel features appear in Top 10!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C55E"/>
                </a:solidFill>
              </a:rPr>
              <a:t>Comparison with Papers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How We Stack Up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Method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Features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Dataset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ELF-Miner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383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1,443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&gt;99%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Guesmi et al.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44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11,444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99.98%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Our Pipeline A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53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1,141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Our Pipeline B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44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1,141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98.25%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Our Pipeline C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39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1,141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108960"/>
            <a:ext cx="859536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Text 4"/>
          <p:cNvSpPr/>
          <p:nvPr/>
        </p:nvSpPr>
        <p:spPr>
          <a:xfrm>
            <a:off x="274320" y="3200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</a:rPr>
              <a:t>Our Improvements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✅ 86% fewer features than ELF-Miner (39 vs 383)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✅ Novel security features not in either paper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✅ Complete deployed system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C55E"/>
                </a:solidFill>
              </a:rPr>
              <a:t>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What We Accomplished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</a:rPr>
              <a:t>🏗️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3 Pipelines, 6 Models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Docker Architecture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Web Interface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74320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320040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📊 Achieved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16459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100% Accuracy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Novel Features in Top 10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No Overfitting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74320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612648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55F7"/>
                </a:solidFill>
              </a:rPr>
              <a:t>💡 Contributed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9360" y="16459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Hybrid Approach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Security Features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Full Implementation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566160"/>
            <a:ext cx="8595360" cy="731520"/>
          </a:xfrm>
          <a:prstGeom prst="round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274320" y="356616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Pipeline C: Same accuracy, fewer features, novel security detection!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1538</Words>
  <Application>Microsoft Office PowerPoint</Application>
  <PresentationFormat>‫הצגה על המסך (16:9)</PresentationFormat>
  <Paragraphs>386</Paragraphs>
  <Slides>21</Slides>
  <Notes>21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1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21</vt:i4>
      </vt:variant>
    </vt:vector>
  </HeadingPairs>
  <TitlesOfParts>
    <vt:vector size="23" baseType="lpstr">
      <vt:lpstr>Arial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ELF Malware Detection System</dc:title>
  <dc:subject>PptxGenJS Presentation</dc:subject>
  <dc:creator>PptxGenJS</dc:creator>
  <cp:lastModifiedBy>אריאל סעדון</cp:lastModifiedBy>
  <cp:revision>3</cp:revision>
  <dcterms:created xsi:type="dcterms:W3CDTF">2026-01-17T19:04:50Z</dcterms:created>
  <dcterms:modified xsi:type="dcterms:W3CDTF">2026-01-17T20:38:15Z</dcterms:modified>
</cp:coreProperties>
</file>